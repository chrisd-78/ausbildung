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📋 Ablauf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Begrüßung</a:t>
            </a:r>
          </a:p>
          <a:p>
            <a:r>
              <a:rPr sz="1800">
                <a:solidFill>
                  <a:srgbClr val="FFFFFF"/>
                </a:solidFill>
              </a:rPr>
              <a:t>Kennenlernrunde</a:t>
            </a:r>
          </a:p>
          <a:p>
            <a:r>
              <a:rPr sz="1800">
                <a:solidFill>
                  <a:srgbClr val="FFFFFF"/>
                </a:solidFill>
              </a:rPr>
              <a:t>Changeprozess - Was ist das?</a:t>
            </a:r>
          </a:p>
          <a:p>
            <a:r>
              <a:rPr sz="1800">
                <a:solidFill>
                  <a:srgbClr val="FFFFFF"/>
                </a:solidFill>
              </a:rPr>
              <a:t>Zusammenfassung der Neuordnung des Ausbildungsberufes</a:t>
            </a:r>
          </a:p>
          <a:p>
            <a:r>
              <a:rPr sz="1800">
                <a:solidFill>
                  <a:srgbClr val="FFFFFF"/>
                </a:solidFill>
              </a:rPr>
              <a:t>Austausch möglicher Zusammenarbeit</a:t>
            </a:r>
          </a:p>
          <a:p>
            <a:r>
              <a:rPr sz="1800">
                <a:solidFill>
                  <a:srgbClr val="FFFFFF"/>
                </a:solidFill>
              </a:rPr>
              <a:t>Offene Runde</a:t>
            </a:r>
          </a:p>
          <a:p>
            <a:r>
              <a:rPr sz="1800">
                <a:solidFill>
                  <a:srgbClr val="FFFFFF"/>
                </a:solidFill>
              </a:rPr>
              <a:t>Abschlussrunde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👋 Kennenlernrunde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Zwei Wahrheiten und eine Lüge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📋 Material:</a:t>
            </a:r>
          </a:p>
          <a:p>
            <a:r>
              <a:rPr sz="1800">
                <a:solidFill>
                  <a:srgbClr val="FFFFFF"/>
                </a:solidFill>
              </a:rPr>
              <a:t>Zettel und Stifte für alle</a:t>
            </a:r>
          </a:p>
          <a:p>
            <a:r>
              <a:rPr sz="1800">
                <a:solidFill>
                  <a:srgbClr val="FFFFFF"/>
                </a:solidFill>
              </a:rPr>
              <a:t>Klebepunkte (1 pro Person)</a:t>
            </a:r>
          </a:p>
          <a:p>
            <a:r>
              <a:rPr sz="1800">
                <a:solidFill>
                  <a:srgbClr val="FFFFFF"/>
                </a:solidFill>
              </a:rPr>
              <a:t>🎮 Spielregeln</a:t>
            </a:r>
          </a:p>
          <a:p>
            <a:r>
              <a:rPr sz="1800">
                <a:solidFill>
                  <a:srgbClr val="FFFFFF"/>
                </a:solidFill>
              </a:rPr>
              <a:t>1. Schreiben (5-7 Min.)</a:t>
            </a:r>
          </a:p>
          <a:p>
            <a:r>
              <a:rPr sz="1800">
                <a:solidFill>
                  <a:srgbClr val="FFFFFF"/>
                </a:solidFill>
              </a:rPr>
              <a:t>Jeder schreibt 3 Aussagen über sich auf seinen Zettel:</a:t>
            </a:r>
          </a:p>
          <a:p>
            <a:r>
              <a:rPr sz="1800">
                <a:solidFill>
                  <a:srgbClr val="FFFFFF"/>
                </a:solidFill>
              </a:rPr>
              <a:t>✓ 2 wahre, aber unbekannte Fakten</a:t>
            </a:r>
          </a:p>
          <a:p>
            <a:r>
              <a:rPr sz="1800">
                <a:solidFill>
                  <a:srgbClr val="FFFFFF"/>
                </a:solidFill>
              </a:rPr>
              <a:t>✗ 1 glaubwürdige Lüge</a:t>
            </a:r>
          </a:p>
          <a:p>
            <a:r>
              <a:rPr sz="1800">
                <a:solidFill>
                  <a:srgbClr val="FFFFFF"/>
                </a:solidFill>
              </a:rPr>
              <a:t>📝 Name nicht vergessen!</a:t>
            </a:r>
          </a:p>
          <a:p>
            <a:r>
              <a:rPr sz="1800">
                <a:solidFill>
                  <a:srgbClr val="FFFFFF"/>
                </a:solidFill>
              </a:rPr>
              <a:t>2. Auslegen</a:t>
            </a:r>
          </a:p>
          <a:p>
            <a:r>
              <a:rPr sz="1800">
                <a:solidFill>
                  <a:srgbClr val="FFFFFF"/>
                </a:solidFill>
              </a:rPr>
              <a:t>Alle Zettel werden sichtbar ausgelegt.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📉 Die Herausforderung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Fachkräftemangel in Freizeitbädern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📉</a:t>
            </a:r>
          </a:p>
          <a:p>
            <a:r>
              <a:rPr sz="1800">
                <a:solidFill>
                  <a:srgbClr val="FFFFFF"/>
                </a:solidFill>
              </a:rPr>
              <a:t>Personalrückgang</a:t>
            </a:r>
          </a:p>
          <a:p>
            <a:r>
              <a:rPr sz="1800">
                <a:solidFill>
                  <a:srgbClr val="FFFFFF"/>
                </a:solidFill>
              </a:rPr>
              <a:t>Auch wir waren in den letzten Jahren erheblich vom Fachkräftemangel betroffen</a:t>
            </a:r>
          </a:p>
          <a:p>
            <a:r>
              <a:rPr sz="1800">
                <a:solidFill>
                  <a:srgbClr val="FFFFFF"/>
                </a:solidFill>
              </a:rPr>
              <a:t>🔍</a:t>
            </a:r>
          </a:p>
          <a:p>
            <a:r>
              <a:rPr sz="1800">
                <a:solidFill>
                  <a:srgbClr val="FFFFFF"/>
                </a:solidFill>
              </a:rPr>
              <a:t>Schwierige Besetzung</a:t>
            </a:r>
          </a:p>
          <a:p>
            <a:r>
              <a:rPr sz="1800">
                <a:solidFill>
                  <a:srgbClr val="FFFFFF"/>
                </a:solidFill>
              </a:rPr>
              <a:t>Offene Stellen konnten nur mit großem Aufwand besetzt werden</a:t>
            </a:r>
          </a:p>
          <a:p>
            <a:r>
              <a:rPr sz="1800">
                <a:solidFill>
                  <a:srgbClr val="FFFFFF"/>
                </a:solidFill>
              </a:rPr>
              <a:t>⚠️</a:t>
            </a:r>
          </a:p>
          <a:p>
            <a:r>
              <a:rPr sz="1800">
                <a:solidFill>
                  <a:srgbClr val="FFFFFF"/>
                </a:solidFill>
              </a:rPr>
              <a:t>Betriebsauswirkungen</a:t>
            </a:r>
          </a:p>
          <a:p>
            <a:r>
              <a:rPr sz="1800">
                <a:solidFill>
                  <a:srgbClr val="FFFFFF"/>
                </a:solidFill>
              </a:rPr>
              <a:t>Auswirkungen auf Öffnungszeiten und Serviceangebot</a:t>
            </a:r>
          </a:p>
          <a:p>
            <a:r>
              <a:rPr sz="1800">
                <a:solidFill>
                  <a:srgbClr val="FFFFFF"/>
                </a:solidFill>
              </a:rPr>
              <a:t>-25%</a:t>
            </a:r>
          </a:p>
          <a:p>
            <a:r>
              <a:rPr sz="1800">
                <a:solidFill>
                  <a:srgbClr val="FFFFFF"/>
                </a:solidFill>
              </a:rPr>
              <a:t>Bewerbungen</a:t>
            </a:r>
          </a:p>
          <a:p>
            <a:r>
              <a:rPr sz="1800">
                <a:solidFill>
                  <a:srgbClr val="FFFFFF"/>
                </a:solidFill>
              </a:rPr>
              <a:t>6+</a:t>
            </a:r>
          </a:p>
          <a:p>
            <a:r>
              <a:rPr sz="1800">
                <a:solidFill>
                  <a:srgbClr val="FFFFFF"/>
                </a:solidFill>
              </a:rPr>
              <a:t>Monate Vakanzzeit</a:t>
            </a:r>
          </a:p>
          <a:p>
            <a:r>
              <a:rPr sz="1800">
                <a:solidFill>
                  <a:srgbClr val="FFFFFF"/>
                </a:solidFill>
              </a:rPr>
              <a:t>3x</a:t>
            </a:r>
          </a:p>
          <a:p>
            <a:r>
              <a:rPr sz="1800">
                <a:solidFill>
                  <a:srgbClr val="FFFFFF"/>
                </a:solidFill>
              </a:rPr>
              <a:t>Aufwand Recruiting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🔍 Die Ursache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Mangelnde Bekanntheit des Berufsbilds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❌ Problem</a:t>
            </a:r>
          </a:p>
          <a:p>
            <a:r>
              <a:rPr sz="1800">
                <a:solidFill>
                  <a:srgbClr val="FFFFFF"/>
                </a:solidFill>
              </a:rPr>
              <a:t>Das Berufsbild des</a:t>
            </a:r>
          </a:p>
          <a:p>
            <a:r>
              <a:rPr sz="1800">
                <a:solidFill>
                  <a:srgbClr val="FFFFFF"/>
                </a:solidFill>
              </a:rPr>
              <a:t>Fachangestellten für Bäderbetriebe</a:t>
            </a:r>
          </a:p>
          <a:p>
            <a:r>
              <a:rPr sz="1800">
                <a:solidFill>
                  <a:srgbClr val="FFFFFF"/>
                </a:solidFill>
              </a:rPr>
              <a:t>ist bei Schulabgängern weitgehend unbekannt.</a:t>
            </a:r>
          </a:p>
          <a:p>
            <a:r>
              <a:rPr sz="1800">
                <a:solidFill>
                  <a:srgbClr val="FFFFFF"/>
                </a:solidFill>
              </a:rPr>
              <a:t>Ein vielseitiger, zukunftssicherer Beruf bleibt unsichtbar.</a:t>
            </a:r>
          </a:p>
          <a:p>
            <a:r>
              <a:rPr sz="1800">
                <a:solidFill>
                  <a:srgbClr val="FFFFFF"/>
                </a:solidFill>
              </a:rPr>
              <a:t>→</a:t>
            </a:r>
          </a:p>
          <a:p>
            <a:r>
              <a:rPr sz="1800">
                <a:solidFill>
                  <a:srgbClr val="FFFFFF"/>
                </a:solidFill>
              </a:rPr>
              <a:t>✓ Erkenntnis</a:t>
            </a:r>
          </a:p>
          <a:p>
            <a:r>
              <a:rPr sz="1800">
                <a:solidFill>
                  <a:srgbClr val="FFFFFF"/>
                </a:solidFill>
              </a:rPr>
              <a:t>Wir müssen aktiv auf potenzielle Bewerber zugehen und das Berufsbild sichtbar machen.</a:t>
            </a:r>
          </a:p>
          <a:p>
            <a:r>
              <a:rPr sz="1800">
                <a:solidFill>
                  <a:srgbClr val="FFFFFF"/>
                </a:solidFill>
              </a:rPr>
              <a:t>Berufsorientierung und Öffentlichkeitsarbeit sind entscheidend.</a:t>
            </a:r>
          </a:p>
          <a:p>
            <a:r>
              <a:rPr sz="1800">
                <a:solidFill>
                  <a:srgbClr val="FFFFFF"/>
                </a:solidFill>
              </a:rPr>
              <a:t>💡 Ein unterschätzter Beruf mit vielfältigen Aufgaben: Wasseraufsicht, Technik, Kundenservice, Hygiene und Schwimmunterricht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🔄 Der Wendepunkt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Neue Impulse durch Führungswechsel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Vorher</a:t>
            </a:r>
          </a:p>
          <a:p>
            <a:r>
              <a:rPr sz="1800">
                <a:solidFill>
                  <a:srgbClr val="FFFFFF"/>
                </a:solidFill>
              </a:rPr>
              <a:t>Traditionelle Ansätze</a:t>
            </a:r>
          </a:p>
          <a:p>
            <a:r>
              <a:rPr sz="1800">
                <a:solidFill>
                  <a:srgbClr val="FFFFFF"/>
                </a:solidFill>
              </a:rPr>
              <a:t>Vor 1,5 J.</a:t>
            </a:r>
          </a:p>
          <a:p>
            <a:r>
              <a:rPr sz="1800">
                <a:solidFill>
                  <a:srgbClr val="FFFFFF"/>
                </a:solidFill>
              </a:rPr>
              <a:t>Neuer GF</a:t>
            </a:r>
          </a:p>
          <a:p>
            <a:r>
              <a:rPr sz="1800">
                <a:solidFill>
                  <a:srgbClr val="FFFFFF"/>
                </a:solidFill>
              </a:rPr>
              <a:t>Prozesse</a:t>
            </a:r>
          </a:p>
          <a:p>
            <a:r>
              <a:rPr sz="1800">
                <a:solidFill>
                  <a:srgbClr val="FFFFFF"/>
                </a:solidFill>
              </a:rPr>
              <a:t>Veränderung</a:t>
            </a:r>
          </a:p>
          <a:p>
            <a:r>
              <a:rPr sz="1800">
                <a:solidFill>
                  <a:srgbClr val="FFFFFF"/>
                </a:solidFill>
              </a:rPr>
              <a:t>Heute</a:t>
            </a:r>
          </a:p>
          <a:p>
            <a:r>
              <a:rPr sz="1800">
                <a:solidFill>
                  <a:srgbClr val="FFFFFF"/>
                </a:solidFill>
              </a:rPr>
              <a:t>Erfolge</a:t>
            </a:r>
          </a:p>
          <a:p>
            <a:r>
              <a:rPr sz="1800">
                <a:solidFill>
                  <a:srgbClr val="FFFFFF"/>
                </a:solidFill>
              </a:rPr>
              <a:t>🎯 Der Coach als Impulsgeber</a:t>
            </a:r>
          </a:p>
          <a:p>
            <a:r>
              <a:rPr sz="1800">
                <a:solidFill>
                  <a:srgbClr val="FFFFFF"/>
                </a:solidFill>
              </a:rPr>
              <a:t>Unser neuer Geschäftsführer brachte als erfahrener Coach frische Perspektiven und innovative Denkansätze ein. Er hinterfragte bestehende Prozesse und initiierte einen umfassenden Veränderungsprozess in allen Bereichen.</a:t>
            </a:r>
          </a:p>
          <a:p>
            <a:r>
              <a:rPr sz="1800">
                <a:solidFill>
                  <a:srgbClr val="FFFFFF"/>
                </a:solidFill>
              </a:rPr>
              <a:t>👁️</a:t>
            </a:r>
          </a:p>
          <a:p>
            <a:r>
              <a:rPr sz="1800">
                <a:solidFill>
                  <a:srgbClr val="FFFFFF"/>
                </a:solidFill>
              </a:rPr>
              <a:t>Neue Perspektive</a:t>
            </a:r>
          </a:p>
          <a:p>
            <a:r>
              <a:rPr sz="1800">
                <a:solidFill>
                  <a:srgbClr val="FFFFFF"/>
                </a:solidFill>
              </a:rPr>
              <a:t>Blick von außen auf interne Strukturen</a:t>
            </a:r>
          </a:p>
          <a:p>
            <a:r>
              <a:rPr sz="1800">
                <a:solidFill>
                  <a:srgbClr val="FFFFFF"/>
                </a:solidFill>
              </a:rPr>
              <a:t>🚀</a:t>
            </a:r>
          </a:p>
          <a:p>
            <a:r>
              <a:rPr sz="1800">
                <a:solidFill>
                  <a:srgbClr val="FFFFFF"/>
                </a:solidFill>
              </a:rPr>
              <a:t>Prozessoptimierung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✅ Unsere Maßnahmen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Konkrete Schritte gegen den Fachkräftemangel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🔄 Change-Prozess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Durchgeführte Maßnahmen:</a:t>
            </a:r>
          </a:p>
          <a:p>
            <a:r>
              <a:rPr sz="1800">
                <a:solidFill>
                  <a:srgbClr val="FFFFFF"/>
                </a:solidFill>
              </a:rPr>
              <a:t>Sternstunden und Brennpunkte mit dem Team ermittelt</a:t>
            </a:r>
          </a:p>
          <a:p>
            <a:r>
              <a:rPr sz="1800">
                <a:solidFill>
                  <a:srgbClr val="FFFFFF"/>
                </a:solidFill>
              </a:rPr>
              <a:t>Workshops in verschiedenen Teams zu den 5 Dysfunktionen eines Teams erarbeitet</a:t>
            </a:r>
          </a:p>
          <a:p>
            <a:r>
              <a:rPr sz="1800">
                <a:solidFill>
                  <a:srgbClr val="FFFFFF"/>
                </a:solidFill>
              </a:rPr>
              <a:t>Werte einzelner Mitarbeiter ermittelt</a:t>
            </a:r>
          </a:p>
          <a:p>
            <a:r>
              <a:rPr sz="1800">
                <a:solidFill>
                  <a:srgbClr val="FFFFFF"/>
                </a:solidFill>
              </a:rPr>
              <a:t>Workshop zu Konflikten / Gewaltfreie Kommunikation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💎 Rückblick unserer Werte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Vertrauen</a:t>
            </a:r>
          </a:p>
          <a:p>
            <a:r>
              <a:rPr sz="1800">
                <a:solidFill>
                  <a:srgbClr val="FFFFFF"/>
                </a:solidFill>
              </a:rPr>
              <a:t>TEAM:</a:t>
            </a:r>
          </a:p>
          <a:p>
            <a:r>
              <a:rPr sz="1800">
                <a:solidFill>
                  <a:srgbClr val="FFFFFF"/>
                </a:solidFill>
              </a:rPr>
              <a:t>6,7</a:t>
            </a:r>
          </a:p>
          <a:p>
            <a:r>
              <a:rPr sz="1800">
                <a:solidFill>
                  <a:srgbClr val="FFFFFF"/>
                </a:solidFill>
              </a:rPr>
              <a:t>SF:</a:t>
            </a:r>
          </a:p>
          <a:p>
            <a:r>
              <a:rPr sz="1800">
                <a:solidFill>
                  <a:srgbClr val="FFFFFF"/>
                </a:solidFill>
              </a:rPr>
              <a:t>8,2</a:t>
            </a:r>
          </a:p>
          <a:p>
            <a:r>
              <a:rPr sz="1800">
                <a:solidFill>
                  <a:srgbClr val="FFFFFF"/>
                </a:solidFill>
              </a:rPr>
              <a:t>Verantwortung</a:t>
            </a:r>
          </a:p>
          <a:p>
            <a:r>
              <a:rPr sz="1800">
                <a:solidFill>
                  <a:srgbClr val="FFFFFF"/>
                </a:solidFill>
              </a:rPr>
              <a:t>TEAM:</a:t>
            </a:r>
          </a:p>
          <a:p>
            <a:r>
              <a:rPr sz="1800">
                <a:solidFill>
                  <a:srgbClr val="FFFFFF"/>
                </a:solidFill>
              </a:rPr>
              <a:t>6,5</a:t>
            </a:r>
          </a:p>
          <a:p>
            <a:r>
              <a:rPr sz="1800">
                <a:solidFill>
                  <a:srgbClr val="FFFFFF"/>
                </a:solidFill>
              </a:rPr>
              <a:t>SF:</a:t>
            </a:r>
          </a:p>
          <a:p>
            <a:r>
              <a:rPr sz="1800">
                <a:solidFill>
                  <a:srgbClr val="FFFFFF"/>
                </a:solidFill>
              </a:rPr>
              <a:t>8,5</a:t>
            </a:r>
          </a:p>
          <a:p>
            <a:r>
              <a:rPr sz="1800">
                <a:solidFill>
                  <a:srgbClr val="FFFFFF"/>
                </a:solidFill>
              </a:rPr>
              <a:t>Harmonie</a:t>
            </a:r>
          </a:p>
          <a:p>
            <a:r>
              <a:rPr sz="1800">
                <a:solidFill>
                  <a:srgbClr val="FFFFFF"/>
                </a:solidFill>
              </a:rPr>
              <a:t>TEAM:</a:t>
            </a:r>
          </a:p>
          <a:p>
            <a:r>
              <a:rPr sz="1800">
                <a:solidFill>
                  <a:srgbClr val="FFFFFF"/>
                </a:solidFill>
              </a:rPr>
              <a:t>7</a:t>
            </a:r>
          </a:p>
          <a:p>
            <a:r>
              <a:rPr sz="1800">
                <a:solidFill>
                  <a:srgbClr val="FFFFFF"/>
                </a:solidFill>
              </a:rPr>
              <a:t>SF:</a:t>
            </a:r>
          </a:p>
          <a:p>
            <a:r>
              <a:rPr sz="1800">
                <a:solidFill>
                  <a:srgbClr val="FFFFFF"/>
                </a:solidFill>
              </a:rPr>
              <a:t>8,8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🤝 Was ist Vertrauen?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1. Dysfunktion "Vertrauen"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Vertrauen ist die Grundlage eines funktionierenden und zusammenhaltenden Teams. Ohne Vertrauen ist Teamarbeit so gut wie unmöglich.</a:t>
            </a:r>
          </a:p>
          <a:p>
            <a:r>
              <a:rPr sz="1800">
                <a:solidFill>
                  <a:srgbClr val="FFFFFF"/>
                </a:solidFill>
              </a:rPr>
              <a:t>Ergebnis:</a:t>
            </a:r>
          </a:p>
          <a:p>
            <a:r>
              <a:rPr sz="1800">
                <a:solidFill>
                  <a:srgbClr val="FFFFFF"/>
                </a:solidFill>
              </a:rPr>
              <a:t>Es wurde ein Team mit Vertrauen und ein Team ohne Vertrauen ermittelt.</a:t>
            </a:r>
          </a:p>
          <a:p>
            <a:r>
              <a:rPr sz="1800">
                <a:solidFill>
                  <a:srgbClr val="FFFFFF"/>
                </a:solidFill>
              </a:rPr>
              <a:t>Durch den Aufbau von "Vertrauen" werden Konflikte im Team erst möglich.</a:t>
            </a:r>
          </a:p>
          <a:p>
            <a:r>
              <a:rPr sz="1800">
                <a:solidFill>
                  <a:srgbClr val="FFFFFF"/>
                </a:solidFill>
              </a:rPr>
              <a:t>Das Team wird leidenschaftlich, schreckt nicht mehr zurück, denn sie haben das Vertrauen, dass sie nicht destruktiv kritisiert werden.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💬 Gewaltfreie Kommunikation (GFK)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Was ist GFK überhaupt? Was sind die Merkmale?</a:t>
            </a:r>
          </a:p>
          <a:p>
            <a:r>
              <a:rPr sz="1800">
                <a:solidFill>
                  <a:srgbClr val="FFFFFF"/>
                </a:solidFill>
              </a:rPr>
              <a:t>Gewalt ist ein fester Bestandteil unserer Welt, und viele Konflikte scheinen unveränderlich. </a:t>
            </a:r>
          </a:p>
          <a:p>
            <a:r>
              <a:rPr sz="1800">
                <a:solidFill>
                  <a:srgbClr val="FFFFFF"/>
                </a:solidFill>
              </a:rPr>
              <a:t>                Marshall Rosenberg rät, den Frieden bei uns selbst zu beginnen.</a:t>
            </a:r>
          </a:p>
          <a:p>
            <a:r>
              <a:rPr sz="1800">
                <a:solidFill>
                  <a:srgbClr val="FFFFFF"/>
                </a:solidFill>
              </a:rPr>
              <a:t>Worte können verletzender sein als Taten</a:t>
            </a:r>
          </a:p>
          <a:p>
            <a:r>
              <a:rPr sz="1800">
                <a:solidFill>
                  <a:srgbClr val="FFFFFF"/>
                </a:solidFill>
              </a:rPr>
              <a:t>GFK zielt darauf ab, unser Sprech- und Hörverhalten zu transformieren</a:t>
            </a:r>
          </a:p>
          <a:p>
            <a:r>
              <a:rPr sz="1800">
                <a:solidFill>
                  <a:srgbClr val="FFFFFF"/>
                </a:solidFill>
              </a:rPr>
              <a:t>Sie lehrt, beziehungsfördernd und respektvoll zu kommunizieren</a:t>
            </a:r>
          </a:p>
          <a:p>
            <a:r>
              <a:rPr sz="1800">
                <a:solidFill>
                  <a:srgbClr val="FFFFFF"/>
                </a:solidFill>
              </a:rPr>
              <a:t>Durch regelmäßiges Üben können wir diese Haltung automatisieren</a:t>
            </a:r>
          </a:p>
          <a:p>
            <a:r>
              <a:rPr sz="1800">
                <a:solidFill>
                  <a:srgbClr val="FFFFFF"/>
                </a:solidFill>
              </a:rPr>
              <a:t>GFK fördert die Selbstbestimmung und Wertschätzung</a:t>
            </a:r>
          </a:p>
          <a:p>
            <a:r>
              <a:rPr sz="1800">
                <a:solidFill>
                  <a:srgbClr val="FFFFFF"/>
                </a:solidFill>
              </a:rPr>
              <a:t>Wir verstehen die Bedürfnisse</a:t>
            </a:r>
          </a:p>
          <a:p>
            <a:r>
              <a:rPr sz="1800">
                <a:solidFill>
                  <a:srgbClr val="FFFFFF"/>
                </a:solidFill>
              </a:rPr>
              <a:t>Wir schätzen uns und finden gemeinsam einen Weg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✨ Was ergibt sich, wenn wir die GFK anwenden?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Positive Effekte:</a:t>
            </a:r>
          </a:p>
          <a:p>
            <a:r>
              <a:rPr sz="1800">
                <a:solidFill>
                  <a:srgbClr val="FFFFFF"/>
                </a:solidFill>
              </a:rPr>
              <a:t>Innerer Frieden</a:t>
            </a:r>
          </a:p>
          <a:p>
            <a:r>
              <a:rPr sz="1800">
                <a:solidFill>
                  <a:srgbClr val="FFFFFF"/>
                </a:solidFill>
              </a:rPr>
              <a:t>Mehr Ruhe</a:t>
            </a:r>
          </a:p>
          <a:p>
            <a:r>
              <a:rPr sz="1800">
                <a:solidFill>
                  <a:srgbClr val="FFFFFF"/>
                </a:solidFill>
              </a:rPr>
              <a:t>Beziehungen sind tiefer, herzlicher</a:t>
            </a:r>
          </a:p>
          <a:p>
            <a:r>
              <a:rPr sz="1800">
                <a:solidFill>
                  <a:srgbClr val="FFFFFF"/>
                </a:solidFill>
              </a:rPr>
              <a:t>Mehr Bezug was man selber fühlt</a:t>
            </a:r>
          </a:p>
          <a:p>
            <a:r>
              <a:rPr sz="1800">
                <a:solidFill>
                  <a:srgbClr val="FFFFFF"/>
                </a:solidFill>
              </a:rPr>
              <a:t>Man spricht offener miteinander</a:t>
            </a:r>
          </a:p>
          <a:p>
            <a:r>
              <a:rPr sz="1800">
                <a:solidFill>
                  <a:srgbClr val="FFFFFF"/>
                </a:solidFill>
              </a:rPr>
              <a:t>Konfliktlösung:</a:t>
            </a:r>
          </a:p>
          <a:p>
            <a:r>
              <a:rPr sz="1800">
                <a:solidFill>
                  <a:srgbClr val="FFFFFF"/>
                </a:solidFill>
              </a:rPr>
              <a:t>Weniger Konflikte</a:t>
            </a:r>
          </a:p>
          <a:p>
            <a:r>
              <a:rPr sz="1800">
                <a:solidFill>
                  <a:srgbClr val="FFFFFF"/>
                </a:solidFill>
              </a:rPr>
              <a:t>Möglichkeit, Konflikte ohne Verletzung zu lösen</a:t>
            </a:r>
          </a:p>
          <a:p>
            <a:r>
              <a:rPr sz="1800">
                <a:solidFill>
                  <a:srgbClr val="FFFFFF"/>
                </a:solidFill>
              </a:rPr>
              <a:t>Gemeinsam etwas gestalten</a:t>
            </a:r>
          </a:p>
          <a:p>
            <a:r>
              <a:rPr sz="1800">
                <a:solidFill>
                  <a:srgbClr val="FFFFFF"/>
                </a:solidFill>
              </a:rPr>
              <a:t>Eine Begegnung der Liebe und nicht aus der Angst heraus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😊 Gefühlsinventar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Positive Gefühle</a:t>
            </a:r>
          </a:p>
          <a:p>
            <a:r>
              <a:rPr sz="1800">
                <a:solidFill>
                  <a:srgbClr val="FFFFFF"/>
                </a:solidFill>
              </a:rPr>
              <a:t>Ausgeruht, angenehm, aufgeregt, aufgekratzt, ausgeglichen, aufmerksam, beflügelt, berührt, bewegt, cool, entschlossen, erstaunt, ergriffen, geblendet, neugierig, mutig, überrascht, unschuldig, offen, motiviert, jubelnd, optimistisch, verzaubert, herzlich</a:t>
            </a:r>
          </a:p>
          <a:p>
            <a:r>
              <a:rPr sz="1800">
                <a:solidFill>
                  <a:srgbClr val="FFFFFF"/>
                </a:solidFill>
              </a:rPr>
              <a:t>Negative Gefühle</a:t>
            </a:r>
          </a:p>
          <a:p>
            <a:r>
              <a:rPr sz="1800">
                <a:solidFill>
                  <a:srgbClr val="FFFFFF"/>
                </a:solidFill>
              </a:rPr>
              <a:t>Abgespannt, aggressiv, allein, ängstlich, aufgeregt, besorgt, bestürzt, beunruhigt, irritiert, kaputt, erschöpft, faul, matt, schrecklich, sauer, skeptisch, sorgevoll, unter Druck, unsicher, unzufrieden, verwirrt, verletzt, verloren, wütend, zornig, zerrissen</a:t>
            </a:r>
          </a:p>
          <a:p>
            <a:r>
              <a:rPr sz="1800">
                <a:solidFill>
                  <a:srgbClr val="FFFFFF"/>
                </a:solidFill>
              </a:rPr>
              <a:t>Formulierungshilfen:</a:t>
            </a:r>
          </a:p>
          <a:p>
            <a:r>
              <a:rPr sz="1800">
                <a:solidFill>
                  <a:srgbClr val="FFFFFF"/>
                </a:solidFill>
              </a:rPr>
              <a:t>"Ich kann verstehen, warum du dich so fühlst."</a:t>
            </a:r>
          </a:p>
          <a:p>
            <a:r>
              <a:rPr sz="1800">
                <a:solidFill>
                  <a:srgbClr val="FFFFFF"/>
                </a:solidFill>
              </a:rPr>
              <a:t>"Es scheint, dass du dich überfordert fühlst."</a:t>
            </a:r>
          </a:p>
          <a:p>
            <a:r>
              <a:rPr sz="1800">
                <a:solidFill>
                  <a:srgbClr val="FFFFFF"/>
                </a:solidFill>
              </a:rPr>
              <a:t>"Möchtest du mir mehr darüber erzählen, was dir bei der Arbeit dieses Gefühl vermittelt?"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🎯 Die vier Schritte zur GFK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1. BEOBACHTUNG</a:t>
            </a:r>
          </a:p>
          <a:p>
            <a:r>
              <a:rPr sz="1800">
                <a:solidFill>
                  <a:srgbClr val="FFFFFF"/>
                </a:solidFill>
              </a:rPr>
              <a:t>Teile zunächst deine Beobachtung mit. Gebe keine Bewertung ab.</a:t>
            </a:r>
          </a:p>
          <a:p>
            <a:r>
              <a:rPr sz="1800">
                <a:solidFill>
                  <a:srgbClr val="FFFFFF"/>
                </a:solidFill>
              </a:rPr>
              <a:t>Wir sagen NICHT:</a:t>
            </a:r>
          </a:p>
          <a:p>
            <a:r>
              <a:rPr sz="1800">
                <a:solidFill>
                  <a:srgbClr val="FFFFFF"/>
                </a:solidFill>
              </a:rPr>
              <a:t>"Du bist unordentlich"</a:t>
            </a:r>
          </a:p>
          <a:p>
            <a:r>
              <a:rPr sz="1800">
                <a:solidFill>
                  <a:srgbClr val="FFFFFF"/>
                </a:solidFill>
              </a:rPr>
              <a:t>Wir sagen:</a:t>
            </a:r>
          </a:p>
          <a:p>
            <a:r>
              <a:rPr sz="1800">
                <a:solidFill>
                  <a:srgbClr val="FFFFFF"/>
                </a:solidFill>
              </a:rPr>
              <a:t>"Mir ist aufgefallen, dass die Reinigungsutensilien nicht wie üblich an ihrem Platz liegen."</a:t>
            </a:r>
          </a:p>
          <a:p>
            <a:r>
              <a:rPr sz="1800">
                <a:solidFill>
                  <a:srgbClr val="FFFFFF"/>
                </a:solidFill>
              </a:rPr>
              <a:t>Objektiv:</a:t>
            </a:r>
          </a:p>
          <a:p>
            <a:r>
              <a:rPr sz="1800">
                <a:solidFill>
                  <a:srgbClr val="FFFFFF"/>
                </a:solidFill>
              </a:rPr>
              <a:t>"Du bist 30 min. zu spät zur Besprechung gekommen." (Tatsache)</a:t>
            </a:r>
          </a:p>
          <a:p>
            <a:r>
              <a:rPr sz="1800">
                <a:solidFill>
                  <a:srgbClr val="FFFFFF"/>
                </a:solidFill>
              </a:rPr>
              <a:t>Subjektiv:</a:t>
            </a:r>
          </a:p>
          <a:p>
            <a:r>
              <a:rPr sz="1800">
                <a:solidFill>
                  <a:srgbClr val="FFFFFF"/>
                </a:solidFill>
              </a:rPr>
              <a:t>"Du schätzt meine Zeit nicht wert, da du 30 min zu spät zur Besprechung gekommen bist." (Bewertung)</a:t>
            </a:r>
          </a:p>
          <a:p>
            <a:r>
              <a:rPr sz="1800">
                <a:solidFill>
                  <a:srgbClr val="FFFFFF"/>
                </a:solidFill>
              </a:rPr>
              <a:t>2. GEFÜHL/EMOTION</a:t>
            </a:r>
          </a:p>
          <a:p>
            <a:r>
              <a:rPr sz="1800">
                <a:solidFill>
                  <a:srgbClr val="FFFFFF"/>
                </a:solidFill>
              </a:rPr>
              <a:t>Beschreibe deine Gefühle. Konzentriere dich auf den Gegenüber, erkenne seine Emotionen.</a:t>
            </a:r>
          </a:p>
          <a:p>
            <a:r>
              <a:rPr sz="1800">
                <a:solidFill>
                  <a:srgbClr val="FFFFFF"/>
                </a:solidFill>
              </a:rPr>
              <a:t>Stelle offene Fragen</a:t>
            </a:r>
          </a:p>
          <a:p>
            <a:r>
              <a:rPr sz="1800">
                <a:solidFill>
                  <a:srgbClr val="FFFFFF"/>
                </a:solidFill>
              </a:rPr>
              <a:t>Würdige die Gefühle der anderen Person</a:t>
            </a:r>
          </a:p>
          <a:p>
            <a:r>
              <a:rPr sz="1800">
                <a:solidFill>
                  <a:srgbClr val="FFFFFF"/>
                </a:solidFill>
              </a:rPr>
              <a:t>Unterbrechen Sie nicht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⚔️ Ein Team, das Konflikte austragen kann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VORAUSSETZUNG: VERTRAUEN</a:t>
            </a:r>
          </a:p>
          <a:p>
            <a:r>
              <a:rPr sz="1800">
                <a:solidFill>
                  <a:srgbClr val="FFFFFF"/>
                </a:solidFill>
              </a:rPr>
              <a:t>Teams haben lebhafte und interessante Meetings</a:t>
            </a:r>
          </a:p>
          <a:p>
            <a:r>
              <a:rPr sz="1800">
                <a:solidFill>
                  <a:srgbClr val="FFFFFF"/>
                </a:solidFill>
              </a:rPr>
              <a:t>Erschließen und erweitern die Ideen aller Teammitglieder</a:t>
            </a:r>
          </a:p>
          <a:p>
            <a:r>
              <a:rPr sz="1800">
                <a:solidFill>
                  <a:srgbClr val="FFFFFF"/>
                </a:solidFill>
              </a:rPr>
              <a:t>Lösen Probleme wirklich schnell und vollständig</a:t>
            </a:r>
          </a:p>
          <a:p>
            <a:r>
              <a:rPr sz="1800">
                <a:solidFill>
                  <a:srgbClr val="FFFFFF"/>
                </a:solidFill>
              </a:rPr>
              <a:t>Legen kritische Probleme zur Diskussion auf den Tisch</a:t>
            </a:r>
          </a:p>
          <a:p>
            <a:r>
              <a:rPr sz="1800">
                <a:solidFill>
                  <a:srgbClr val="FFFFFF"/>
                </a:solidFill>
              </a:rPr>
              <a:t>Wichtig:</a:t>
            </a:r>
          </a:p>
          <a:p>
            <a:r>
              <a:rPr sz="1800">
                <a:solidFill>
                  <a:srgbClr val="FFFFFF"/>
                </a:solidFill>
              </a:rPr>
              <a:t>Eine Auseinandersetzung sollte konstruktiv sein. Es geht nur um die bestmögliche Lösung für das Team.</a:t>
            </a:r>
          </a:p>
          <a:p>
            <a:r>
              <a:rPr sz="1800">
                <a:solidFill>
                  <a:srgbClr val="FFFFFF"/>
                </a:solidFill>
              </a:rPr>
              <a:t>Übung:</a:t>
            </a:r>
          </a:p>
          <a:p>
            <a:r>
              <a:rPr sz="1800">
                <a:solidFill>
                  <a:srgbClr val="FFFFFF"/>
                </a:solidFill>
              </a:rPr>
              <a:t>Wenn ein Team dazu neigt, Konflikte aus dem Weg zu gehen, muss es einen Konflikt-Schlichter geben. Diese Person braucht Mut und Selbstvertrauen, um heikle Themen anzusprechen.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💬 Der Unterschied zwischen konstruktiver und destruktiver Kritik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Konstruktive Kritik</a:t>
            </a:r>
          </a:p>
          <a:p>
            <a:r>
              <a:rPr sz="1800">
                <a:solidFill>
                  <a:srgbClr val="FFFFFF"/>
                </a:solidFill>
              </a:rPr>
              <a:t>Eine ehrliche, offene und respektvolle Bewertung, die Schwächen aufzeigt, aber immer darauf abzielt, Lösungen zu finden und zu verbessern.</a:t>
            </a:r>
          </a:p>
          <a:p>
            <a:r>
              <a:rPr sz="1800">
                <a:solidFill>
                  <a:srgbClr val="FFFFFF"/>
                </a:solidFill>
              </a:rPr>
              <a:t>Bedeutet:</a:t>
            </a:r>
          </a:p>
          <a:p>
            <a:r>
              <a:rPr sz="1800">
                <a:solidFill>
                  <a:srgbClr val="FFFFFF"/>
                </a:solidFill>
              </a:rPr>
              <a:t>Die Suche nach Kompromissen, von denen beide Seiten etwas haben oder ihr Ziel erreichen.</a:t>
            </a:r>
          </a:p>
          <a:p>
            <a:r>
              <a:rPr sz="1800">
                <a:solidFill>
                  <a:srgbClr val="FFFFFF"/>
                </a:solidFill>
              </a:rPr>
              <a:t>Destruktive Kritik</a:t>
            </a:r>
          </a:p>
          <a:p>
            <a:r>
              <a:rPr sz="1800">
                <a:solidFill>
                  <a:srgbClr val="FFFFFF"/>
                </a:solidFill>
              </a:rPr>
              <a:t>Kommt meist ungefiltert, unangenehm und ohne erkennbare Hilfsbereitschaft. Sie fühlt sich an wie ein Schlag ins Gesicht, oft lässt man nur den Frust ab und macht Machtanweisungen.</a:t>
            </a:r>
          </a:p>
          <a:p>
            <a:r>
              <a:rPr sz="1800">
                <a:solidFill>
                  <a:srgbClr val="FFFFFF"/>
                </a:solidFill>
              </a:rPr>
              <a:t>Kritik vs. Feedback:</a:t>
            </a:r>
          </a:p>
          <a:p>
            <a:r>
              <a:rPr sz="1800">
                <a:solidFill>
                  <a:srgbClr val="FFFFFF"/>
                </a:solidFill>
              </a:rPr>
              <a:t>Kritik</a:t>
            </a:r>
          </a:p>
          <a:p>
            <a:r>
              <a:rPr sz="1800">
                <a:solidFill>
                  <a:srgbClr val="FFFFFF"/>
                </a:solidFill>
              </a:rPr>
              <a:t>bedeutet sich mit etwas auseinanderzusetzen, Schwachstellen oder Verbesserungsmöglichkeiten zu identifizieren und diese zu äußern.</a:t>
            </a:r>
          </a:p>
          <a:p>
            <a:r>
              <a:rPr sz="1800">
                <a:solidFill>
                  <a:srgbClr val="FFFFFF"/>
                </a:solidFill>
              </a:rPr>
              <a:t>Feedback</a:t>
            </a:r>
          </a:p>
          <a:p>
            <a:r>
              <a:rPr sz="1800">
                <a:solidFill>
                  <a:srgbClr val="FFFFFF"/>
                </a:solidFill>
              </a:rPr>
              <a:t>ist oft weicher formuliert und mehr auf Beziehungsebene bedacht.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🗣️ Tipps für Kritikgespräche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Formulierungen: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"Mir ist aufgefallen, dass..."</a:t>
            </a:r>
          </a:p>
          <a:p>
            <a:r>
              <a:rPr sz="1800">
                <a:solidFill>
                  <a:srgbClr val="FFFFFF"/>
                </a:solidFill>
              </a:rPr>
              <a:t>Beispiel: "Mir ist aufgefallen, dass die Absprachen im Team nicht ganz klar sind. Ich schlage vor, wir setzen uns zusammen und klären die Rollen genauer."</a:t>
            </a:r>
          </a:p>
          <a:p>
            <a:r>
              <a:rPr sz="1800">
                <a:solidFill>
                  <a:srgbClr val="FFFFFF"/>
                </a:solidFill>
              </a:rPr>
              <a:t>"Wie könnten wir ... verbessern?"</a:t>
            </a:r>
          </a:p>
          <a:p>
            <a:r>
              <a:rPr sz="1800">
                <a:solidFill>
                  <a:srgbClr val="FFFFFF"/>
                </a:solidFill>
              </a:rPr>
              <a:t>Beispiel: "Wie könnten wir die Kommunikation im Team verbessern?"</a:t>
            </a:r>
          </a:p>
          <a:p>
            <a:r>
              <a:rPr sz="1800">
                <a:solidFill>
                  <a:srgbClr val="FFFFFF"/>
                </a:solidFill>
              </a:rPr>
              <a:t>"Lassen Sie uns die Sache aus einer anderen Perspektive betrachten."</a:t>
            </a:r>
          </a:p>
          <a:p>
            <a:r>
              <a:rPr sz="1800">
                <a:solidFill>
                  <a:srgbClr val="FFFFFF"/>
                </a:solidFill>
              </a:rPr>
              <a:t>Beispiel: "Wenn wir uns in die Position des Gastes versetzen, wirkt das etwas übersichtlich. Wollen wir es gemeinsam überarbeiten?"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🛡️ Der Umgang mit Kritik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Zu lernen, wie man mit Kritik umgeht, ist für eine effektive Kommunikation unerlässlich.</a:t>
            </a:r>
          </a:p>
          <a:p>
            <a:r>
              <a:rPr sz="1800">
                <a:solidFill>
                  <a:srgbClr val="FFFFFF"/>
                </a:solidFill>
              </a:rPr>
              <a:t>Techniken:</a:t>
            </a:r>
          </a:p>
          <a:p>
            <a:r>
              <a:rPr sz="1800">
                <a:solidFill>
                  <a:srgbClr val="FFFFFF"/>
                </a:solidFill>
              </a:rPr>
              <a:t>Unterscheiden Sie zwischen Meinung und Fakten</a:t>
            </a:r>
          </a:p>
          <a:p>
            <a:r>
              <a:rPr sz="1800">
                <a:solidFill>
                  <a:srgbClr val="FFFFFF"/>
                </a:solidFill>
              </a:rPr>
              <a:t>Erkennen Sie alle gültigen Punkte an: "Ich stimme zu, dass es Bereiche gibt, in denen ich mich verbessern muss..."</a:t>
            </a:r>
          </a:p>
          <a:p>
            <a:r>
              <a:rPr sz="1800">
                <a:solidFill>
                  <a:srgbClr val="FFFFFF"/>
                </a:solidFill>
              </a:rPr>
              <a:t>Setzen Sie Ihren Emotionen Grenzen: Erinnern Sie sich, dass die Kritik auf ein bestimmtes Verhalten oder Ergebnis bezogen ist und nicht auf Sie persönlich</a:t>
            </a:r>
          </a:p>
          <a:p>
            <a:r>
              <a:rPr sz="1800">
                <a:solidFill>
                  <a:srgbClr val="FFFFFF"/>
                </a:solidFill>
              </a:rPr>
              <a:t>Schaffen Sie eine Feedback-Schleife</a:t>
            </a:r>
          </a:p>
          <a:p>
            <a:r>
              <a:rPr sz="1800">
                <a:solidFill>
                  <a:srgbClr val="FFFFFF"/>
                </a:solidFill>
              </a:rPr>
              <a:t>Unter Druck ruhig bleiben:</a:t>
            </a:r>
          </a:p>
          <a:p>
            <a:r>
              <a:rPr sz="1800">
                <a:solidFill>
                  <a:srgbClr val="FFFFFF"/>
                </a:solidFill>
              </a:rPr>
              <a:t>Achten Sie auf die richtige Einstellung - bleib positiv</a:t>
            </a:r>
          </a:p>
          <a:p>
            <a:r>
              <a:rPr sz="1800">
                <a:solidFill>
                  <a:srgbClr val="FFFFFF"/>
                </a:solidFill>
              </a:rPr>
              <a:t>Üben Sie sich darin, Kritik frei von Emotionen zu bewerten</a:t>
            </a:r>
          </a:p>
          <a:p>
            <a:r>
              <a:rPr sz="1800">
                <a:solidFill>
                  <a:srgbClr val="FFFFFF"/>
                </a:solidFill>
              </a:rPr>
              <a:t>Bewahren Sie Professionalität</a:t>
            </a:r>
          </a:p>
          <a:p>
            <a:r>
              <a:rPr sz="1800">
                <a:solidFill>
                  <a:srgbClr val="FFFFFF"/>
                </a:solidFill>
              </a:rPr>
              <a:t>Widersprechen Sie entschieden, wenn nötig</a:t>
            </a:r>
          </a:p>
          <a:p>
            <a:r>
              <a:rPr sz="1800">
                <a:solidFill>
                  <a:srgbClr val="FFFFFF"/>
                </a:solidFill>
              </a:rPr>
              <a:t>Fragen Sie nach Einzelheiten</a:t>
            </a:r>
          </a:p>
          <a:p>
            <a:r>
              <a:rPr sz="1800">
                <a:solidFill>
                  <a:srgbClr val="FFFFFF"/>
                </a:solidFill>
              </a:rPr>
              <a:t>Bieten Sie Alternativen 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Ende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Vielen Dank für Ihre Aufmerksamkeit!</a:t>
            </a:r>
          </a:p>
          <a:p>
            <a:r>
              <a:rPr sz="1800">
                <a:solidFill>
                  <a:srgbClr val="FFFFFF"/>
                </a:solidFill>
              </a:rPr>
              <a:t>🏠 Zur Startseite</a:t>
            </a:r>
          </a:p>
          <a:p>
            <a:r>
              <a:rPr sz="1800">
                <a:solidFill>
                  <a:srgbClr val="FFFFFF"/>
                </a:solidFill>
              </a:rPr>
              <a:t>📊 Neuordnung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